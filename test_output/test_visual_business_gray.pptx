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AI 市场规模 (十亿美元)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50</c:v>
                </c:pt>
                <c:pt idx="1">
                  <c:v>120</c:v>
                </c:pt>
                <c:pt idx="2">
                  <c:v>280</c:v>
                </c:pt>
                <c:pt idx="3">
                  <c:v>500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D3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-457200"/>
            <a:ext cx="2743200" cy="2743200"/>
          </a:xfrm>
          <a:prstGeom prst="ellipse">
            <a:avLst/>
          </a:prstGeom>
          <a:solidFill>
            <a:srgbClr val="74B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2560320"/>
            <a:ext cx="73152" cy="1371600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</a:defRPr>
            </a:pPr>
            <a:r>
              <a:t>AI 技术趋势报告 2024</a:t>
            </a:r>
          </a:p>
          <a:p>
            <a:pPr algn="l">
              <a:spcBef>
                <a:spcPts val="1600"/>
              </a:spcBef>
              <a:defRPr sz="2400">
                <a:solidFill>
                  <a:srgbClr val="74B9FF"/>
                </a:solidFill>
              </a:defRPr>
            </a:pPr>
            <a:r>
              <a:t>深度解析人工智能发展方向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66928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>
                <a:solidFill>
                  <a:srgbClr val="FFFFFF"/>
                </a:solidFill>
              </a:defRPr>
            </a:pPr>
            <a:r>
              <a:t>2024 年 3 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636E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45720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核心发现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91153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000">
                <a:solidFill>
                  <a:srgbClr val="2D3436"/>
                </a:solidFill>
              </a:defRPr>
            </a:pPr>
            <a:r>
              <a:t>●  大语言模型能力持续突破，GPT-4 级别模型成为主流</a:t>
            </a:r>
          </a:p>
          <a:p>
            <a:pPr>
              <a:spcAft>
                <a:spcPts val="1600"/>
              </a:spcAft>
              <a:defRPr sz="2000">
                <a:solidFill>
                  <a:srgbClr val="2D3436"/>
                </a:solidFill>
              </a:defRPr>
            </a:pPr>
            <a:r>
              <a:t>●  多模态 AI 融合加速，图像、视频、音频统一处理</a:t>
            </a:r>
          </a:p>
          <a:p>
            <a:pPr>
              <a:spcAft>
                <a:spcPts val="1600"/>
              </a:spcAft>
              <a:defRPr sz="2000">
                <a:solidFill>
                  <a:srgbClr val="2D3436"/>
                </a:solidFill>
              </a:defRPr>
            </a:pPr>
            <a:r>
              <a:t>●  AI Agent 架构兴起，自动化任务执行能力增强</a:t>
            </a:r>
          </a:p>
          <a:p>
            <a:pPr>
              <a:spcAft>
                <a:spcPts val="1600"/>
              </a:spcAft>
              <a:defRPr sz="2000">
                <a:solidFill>
                  <a:srgbClr val="2D3436"/>
                </a:solidFill>
              </a:defRPr>
            </a:pPr>
            <a:r>
              <a:t>●  开源生态繁荣，Llama 系列引领开源浪潮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636E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45720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市场格局分析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6567" y="1645920"/>
            <a:ext cx="347472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26567" y="1645920"/>
            <a:ext cx="3474720" cy="73152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9447" y="1874519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B894"/>
                </a:solidFill>
              </a:defRPr>
            </a:pPr>
            <a:r>
              <a:t>OpenAI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447" y="233172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D3436"/>
                </a:solidFill>
              </a:defRPr>
            </a:pPr>
            <a:r>
              <a:t>GPT-4V、DALL-E 3、Sora 多模态领先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58487" y="1645920"/>
            <a:ext cx="347472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58487" y="1645920"/>
            <a:ext cx="3474720" cy="73152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41367" y="1874519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B894"/>
                </a:solidFill>
              </a:defRPr>
            </a:pPr>
            <a:r>
              <a:t>Google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1367" y="233172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D3436"/>
                </a:solidFill>
              </a:defRPr>
            </a:pPr>
            <a:r>
              <a:t>Gemini 全家桶，搜索集成优势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90407" y="1645920"/>
            <a:ext cx="347472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90407" y="1645920"/>
            <a:ext cx="3474720" cy="73152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73287" y="1874519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B894"/>
                </a:solidFill>
              </a:defRPr>
            </a:pPr>
            <a:r>
              <a:t>Anthropic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73287" y="233172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D3436"/>
                </a:solidFill>
              </a:defRPr>
            </a:pPr>
            <a:r>
              <a:t>Claude 3 安全导向，长文本优秀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6567" y="4206240"/>
            <a:ext cx="347472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6567" y="4206240"/>
            <a:ext cx="3474720" cy="73152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9447" y="4434840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B894"/>
                </a:solidFill>
              </a:defRPr>
            </a:pPr>
            <a:r>
              <a:t>Meta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9447" y="489204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D3436"/>
                </a:solidFill>
              </a:defRPr>
            </a:pPr>
            <a:r>
              <a:t>Llama 开源生态，社区驱动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636E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45720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研究方法论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B894"/>
                </a:solidFill>
              </a:defRPr>
            </a:pPr>
            <a:r>
              <a:t>数据来源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1168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D3436"/>
                </a:solidFill>
              </a:defRPr>
            </a:pPr>
            <a:r>
              <a:t>●  学术论文数据库</a:t>
            </a:r>
          </a:p>
          <a:p>
            <a:pPr>
              <a:spcAft>
                <a:spcPts val="1000"/>
              </a:spcAft>
              <a:defRPr sz="1600">
                <a:solidFill>
                  <a:srgbClr val="2D3436"/>
                </a:solidFill>
              </a:defRPr>
            </a:pPr>
            <a:r>
              <a:t>●  行业报告</a:t>
            </a:r>
          </a:p>
          <a:p>
            <a:pPr>
              <a:spcAft>
                <a:spcPts val="1000"/>
              </a:spcAft>
              <a:defRPr sz="1600">
                <a:solidFill>
                  <a:srgbClr val="2D3436"/>
                </a:solidFill>
              </a:defRPr>
            </a:pPr>
            <a:r>
              <a:t>●  产品发布信息</a:t>
            </a:r>
          </a:p>
          <a:p>
            <a:pPr>
              <a:spcAft>
                <a:spcPts val="1000"/>
              </a:spcAft>
              <a:defRPr sz="1600">
                <a:solidFill>
                  <a:srgbClr val="2D3436"/>
                </a:solidFill>
              </a:defRPr>
            </a:pPr>
            <a:r>
              <a:t>●  用户调研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46304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B894"/>
                </a:solidFill>
              </a:defRPr>
            </a:pPr>
            <a:r>
              <a:t>分析方法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201168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D3436"/>
                </a:solidFill>
              </a:defRPr>
            </a:pPr>
            <a:r>
              <a:t>●  趋势分析</a:t>
            </a:r>
          </a:p>
          <a:p>
            <a:pPr>
              <a:spcAft>
                <a:spcPts val="1000"/>
              </a:spcAft>
              <a:defRPr sz="1600">
                <a:solidFill>
                  <a:srgbClr val="2D3436"/>
                </a:solidFill>
              </a:defRPr>
            </a:pPr>
            <a:r>
              <a:t>●  竞品对比</a:t>
            </a:r>
          </a:p>
          <a:p>
            <a:pPr>
              <a:spcAft>
                <a:spcPts val="1000"/>
              </a:spcAft>
              <a:defRPr sz="1600">
                <a:solidFill>
                  <a:srgbClr val="2D3436"/>
                </a:solidFill>
              </a:defRPr>
            </a:pPr>
            <a:r>
              <a:t>●  技术评估</a:t>
            </a:r>
          </a:p>
          <a:p>
            <a:pPr>
              <a:spcAft>
                <a:spcPts val="1000"/>
              </a:spcAft>
              <a:defRPr sz="1600">
                <a:solidFill>
                  <a:srgbClr val="2D3436"/>
                </a:solidFill>
              </a:defRPr>
            </a:pPr>
            <a:r>
              <a:t>●  专家访谈</a:t>
            </a:r>
          </a:p>
        </p:txBody>
      </p:sp>
      <p:sp>
        <p:nvSpPr>
          <p:cNvPr id="9" name="Rectangle 8"/>
          <p:cNvSpPr/>
          <p:nvPr/>
        </p:nvSpPr>
        <p:spPr>
          <a:xfrm>
            <a:off x="5852160" y="1645920"/>
            <a:ext cx="27432" cy="457200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636E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45720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AI 发展里程碑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200400"/>
            <a:ext cx="10362895" cy="4572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072601" y="3063240"/>
            <a:ext cx="320040" cy="320040"/>
          </a:xfrm>
          <a:prstGeom prst="ellipse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78241" y="2560320"/>
            <a:ext cx="1463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00B894"/>
                </a:solidFill>
              </a:defRPr>
            </a:pPr>
            <a:r>
              <a:t>2022 Q4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78241" y="3566160"/>
            <a:ext cx="1463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D3436"/>
                </a:solidFill>
              </a:defRPr>
            </a:pPr>
            <a:r>
              <a:t>ChatGPT 发布</a:t>
            </a:r>
          </a:p>
          <a:p>
            <a:pPr algn="ctr">
              <a:defRPr sz="900">
                <a:solidFill>
                  <a:srgbClr val="2D3436"/>
                </a:solidFill>
              </a:defRPr>
            </a:pPr>
            <a:r>
              <a:t>AI 聊天引爆全球</a:t>
            </a:r>
          </a:p>
        </p:txBody>
      </p:sp>
      <p:sp>
        <p:nvSpPr>
          <p:cNvPr id="9" name="Oval 8"/>
          <p:cNvSpPr/>
          <p:nvPr/>
        </p:nvSpPr>
        <p:spPr>
          <a:xfrm>
            <a:off x="4663325" y="3063240"/>
            <a:ext cx="320040" cy="320040"/>
          </a:xfrm>
          <a:prstGeom prst="ellipse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068965" y="2560320"/>
            <a:ext cx="1463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00B894"/>
                </a:solidFill>
              </a:defRPr>
            </a:pPr>
            <a:r>
              <a:t>2023 Q1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68965" y="3566160"/>
            <a:ext cx="1463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D3436"/>
                </a:solidFill>
              </a:defRPr>
            </a:pPr>
            <a:r>
              <a:t>GPT-4 发布</a:t>
            </a:r>
          </a:p>
          <a:p>
            <a:pPr algn="ctr">
              <a:defRPr sz="900">
                <a:solidFill>
                  <a:srgbClr val="2D3436"/>
                </a:solidFill>
              </a:defRPr>
            </a:pPr>
            <a:r>
              <a:t>多模态能力突破</a:t>
            </a:r>
          </a:p>
        </p:txBody>
      </p:sp>
      <p:sp>
        <p:nvSpPr>
          <p:cNvPr id="12" name="Oval 11"/>
          <p:cNvSpPr/>
          <p:nvPr/>
        </p:nvSpPr>
        <p:spPr>
          <a:xfrm>
            <a:off x="7254049" y="3063240"/>
            <a:ext cx="320040" cy="320040"/>
          </a:xfrm>
          <a:prstGeom prst="ellipse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59689" y="2560320"/>
            <a:ext cx="1463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00B894"/>
                </a:solidFill>
              </a:defRPr>
            </a:pPr>
            <a:r>
              <a:t>2023 Q4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59689" y="3566160"/>
            <a:ext cx="1463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D3436"/>
                </a:solidFill>
              </a:defRPr>
            </a:pPr>
            <a:r>
              <a:t>GPT-4V</a:t>
            </a:r>
          </a:p>
          <a:p>
            <a:pPr algn="ctr">
              <a:defRPr sz="900">
                <a:solidFill>
                  <a:srgbClr val="2D3436"/>
                </a:solidFill>
              </a:defRPr>
            </a:pPr>
            <a:r>
              <a:t>视觉理解升级</a:t>
            </a:r>
          </a:p>
        </p:txBody>
      </p:sp>
      <p:sp>
        <p:nvSpPr>
          <p:cNvPr id="15" name="Oval 14"/>
          <p:cNvSpPr/>
          <p:nvPr/>
        </p:nvSpPr>
        <p:spPr>
          <a:xfrm>
            <a:off x="9844773" y="3063240"/>
            <a:ext cx="320040" cy="320040"/>
          </a:xfrm>
          <a:prstGeom prst="ellipse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50413" y="2560320"/>
            <a:ext cx="1463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00B894"/>
                </a:solidFill>
              </a:defRPr>
            </a:pPr>
            <a:r>
              <a:t>2024 Q1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50413" y="3566160"/>
            <a:ext cx="1463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D3436"/>
                </a:solidFill>
              </a:defRPr>
            </a:pPr>
            <a:r>
              <a:t>Sora 发布</a:t>
            </a:r>
          </a:p>
          <a:p>
            <a:pPr algn="ctr">
              <a:defRPr sz="900">
                <a:solidFill>
                  <a:srgbClr val="2D3436"/>
                </a:solidFill>
              </a:defRPr>
            </a:pPr>
            <a:r>
              <a:t>视频生成革命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636E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市场规模预测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640080" y="1371600"/>
          <a:ext cx="10911535" cy="2926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4389120"/>
            <a:ext cx="1091153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D3436"/>
                </a:solidFill>
              </a:defRPr>
            </a:pPr>
            <a:r>
              <a:t>• 年复合增长率超过 50%</a:t>
            </a:r>
          </a:p>
          <a:p>
            <a:pPr>
              <a:spcAft>
                <a:spcPts val="800"/>
              </a:spcAft>
              <a:defRPr sz="1600">
                <a:solidFill>
                  <a:srgbClr val="2D3436"/>
                </a:solidFill>
              </a:defRPr>
            </a:pPr>
            <a:r>
              <a:t>• 生成式 AI 占比快速提升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D3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01200" y="-457200"/>
            <a:ext cx="2743200" cy="2743200"/>
          </a:xfrm>
          <a:prstGeom prst="ellipse">
            <a:avLst/>
          </a:prstGeom>
          <a:solidFill>
            <a:srgbClr val="74B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14400" y="4572000"/>
            <a:ext cx="2743200" cy="2743200"/>
          </a:xfrm>
          <a:prstGeom prst="ellipse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0" y="2103120"/>
            <a:ext cx="2133295" cy="45720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286000"/>
            <a:ext cx="11277295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1148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感谢观看</a:t>
            </a:r>
          </a:p>
          <a:p>
            <a:pPr algn="ctr"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联系方式: ai@insightforge.com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