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0"/>
            <a:ext cx="73152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Technology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103120" cy="3657600"/>
          </a:xfrm>
          <a:prstGeom prst="rect">
            <a:avLst/>
          </a:prstGeom>
          <a:solidFill>
            <a:srgbClr val="9B59B6">
              <a:lumMod val="40000"/>
              <a:lumOff val="60000"/>
            </a:srgbClr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394959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创新萌芽期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39" y="1645920"/>
            <a:ext cx="2103120" cy="3657600"/>
          </a:xfrm>
          <a:prstGeom prst="rect">
            <a:avLst/>
          </a:prstGeom>
          <a:solidFill>
            <a:srgbClr val="E74C3C">
              <a:lumMod val="40000"/>
              <a:lumOff val="60000"/>
            </a:srgbClr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79" y="5394959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期望膨胀期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59" y="1645920"/>
            <a:ext cx="2103120" cy="3657600"/>
          </a:xfrm>
          <a:prstGeom prst="rect">
            <a:avLst/>
          </a:prstGeom>
          <a:solidFill>
            <a:srgbClr val="F1C40F">
              <a:lumMod val="40000"/>
              <a:lumOff val="60000"/>
            </a:srgbClr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199" y="5394959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泡沫破裂期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79" y="1645920"/>
            <a:ext cx="2103120" cy="3657600"/>
          </a:xfrm>
          <a:prstGeom prst="rect">
            <a:avLst/>
          </a:prstGeom>
          <a:solidFill>
            <a:srgbClr val="2ECC71">
              <a:lumMod val="40000"/>
              <a:lumOff val="60000"/>
            </a:srgbClr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9" y="5394959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稳步爬升期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645920"/>
            <a:ext cx="2103120" cy="3657600"/>
          </a:xfrm>
          <a:prstGeom prst="rect">
            <a:avLst/>
          </a:prstGeom>
          <a:solidFill>
            <a:srgbClr val="3498DB">
              <a:lumMod val="40000"/>
              <a:lumOff val="60000"/>
            </a:srgbClr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5394959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生产成熟期</a:t>
            </a:r>
          </a:p>
        </p:txBody>
      </p:sp>
      <p:sp>
        <p:nvSpPr>
          <p:cNvPr id="14" name="Wave 13"/>
          <p:cNvSpPr/>
          <p:nvPr/>
        </p:nvSpPr>
        <p:spPr>
          <a:xfrm>
            <a:off x="731520" y="2103120"/>
            <a:ext cx="10515600" cy="2743200"/>
          </a:xfrm>
          <a:prstGeom prst="wave">
            <a:avLst/>
          </a:prstGeom>
          <a:noFill/>
          <a:ln w="381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71700" y="3474719"/>
            <a:ext cx="274320" cy="1828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5166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GPT-5</a:t>
            </a:r>
          </a:p>
        </p:txBody>
      </p:sp>
      <p:sp>
        <p:nvSpPr>
          <p:cNvPr id="17" name="Oval 16"/>
          <p:cNvSpPr/>
          <p:nvPr/>
        </p:nvSpPr>
        <p:spPr>
          <a:xfrm>
            <a:off x="4274819" y="3474720"/>
            <a:ext cx="274320" cy="1828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4779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AI Agent</a:t>
            </a:r>
          </a:p>
        </p:txBody>
      </p:sp>
      <p:sp>
        <p:nvSpPr>
          <p:cNvPr id="19" name="Oval 18"/>
          <p:cNvSpPr/>
          <p:nvPr/>
        </p:nvSpPr>
        <p:spPr>
          <a:xfrm>
            <a:off x="6377940" y="3840480"/>
            <a:ext cx="274320" cy="1828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7900" y="4069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LLM</a:t>
            </a:r>
          </a:p>
        </p:txBody>
      </p:sp>
      <p:sp>
        <p:nvSpPr>
          <p:cNvPr id="21" name="Oval 20"/>
          <p:cNvSpPr/>
          <p:nvPr/>
        </p:nvSpPr>
        <p:spPr>
          <a:xfrm>
            <a:off x="8481060" y="3474719"/>
            <a:ext cx="274320" cy="1828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102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Computer 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" y="3017520"/>
            <a:ext cx="457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期望值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